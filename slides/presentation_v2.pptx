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Chờ giới thiệu. 'Em xin chào thầy/cô và các bạn. Hôm nay em trình bày đề tài Khai thác các mẫu hiếm — Rare Pattern Mining.' (0:15)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Lướt nhanh 5 phần. Chuyển: 'Bắt đầu từ câu hỏi vì sao cần mẫu hiếm.' (0:20)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bằng câu hỏi: 'Điều thú vị nhất trong dữ liệu có phải là điều xảy ra thường xuyên nhất không?'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Hạ minsup làm dàn itemset bùng nổ; nhiều itemset không tồn tại trong dữ liệu. Chuyển: 'Để nói chuyện cụ thể, em dùng một ví dụ nhỏ.'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CSDL 4 giao dịch theo bài giảng. Pasta có mặt mọi giao dịch — chi tiết này quay lại ở phần mẫu giả. (0:45)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Bản đồ toàn bài trên ví dụ 4 giao dịch: từ CSDL thô → định nghĩa hiếm (minsup) → thuật toán khai thác → độ đo lọc mẫu giả → CORI. Khán giả định vị được mình đang ở khối nào trong suốt phần còn lại. (0:40)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Tâm điểm lý thuyết — hình ảnh 'đường biên' trong dàn itemset. mRI nhỏ gọn mà đại diện mọi mẫu hiếm; PRI thêm ngưỡng dưới loại nhiễu. (1:15)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 prune nghĩa là mọi tập con đều phổ biến → không phổ biến là tự động thành mRI. Nhược điểm chi phí định lượng ở Exp A. (1:15)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gian nhỏ hơn hẳn; cái giá là bỏ sót mẫu lai như {bệnh hiếm + triệu chứng phổ biến}.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mạch sang nửa sau: hiếm thôi chưa đủ, còn cần 'thật'. (0:45)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tính anti-monotone — CORI dùng nó để cắt tỉa cả nhánh.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Mẫu hiếm chỉ chạm phần rất nhỏ dữ liệu, còn lại toàn null transactions — độ đo nhạy với chúng bị bóp méo trên dữ liệu thưa. (0:45)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Khi nối hai itemset: TID-List lấy giao, DTID-List lấy hợp — support và bond tính ngay. Nút chưa hiếm vẫn phải mở rộng. (1:15)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assert phủ toàn bộ: bảng FIM, ba thuật toán, bond, all-confidence, TID/DTID-List — tất cả khớp kết quả tính tay trên ví dụ minh họa.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Thời gian AprioriRare tăng theo cấp mũ khi minsup giảm. mRI gọn nhưng chi phí bị chi phối bởi vùng phổ biến.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Mẫu đắt giá nhất: 36 cây nấm mùi mốc luôn đồng thời không vòng cuống + cuống màu quế — bond = 1 tuyệt đối, FIM không bao giờ chạm tới. (1:15)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Thông điệp: không có định nghĩa hiếm 'đúng' duy nhất — chỉ có đánh đổi; null-invariance là bắt buộc trên dữ liệu thưa. (0:50)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Cảm ơn, mời câu hỏi. Chuẩn bị sẵn Q&amp;A trong TALK_SCRIPT.md. (0:20)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36876" y="1874519"/>
            <a:ext cx="7315200" cy="3810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BF9A4A"/>
                </a:solidFill>
              </a:defRPr>
            </a:pPr>
            <a:r>
              <a:t>Khai thác các mẫu hiếm</a:t>
            </a:r>
          </a:p>
          <a:p>
            <a:pPr algn="ctr">
              <a:defRPr sz="2800" b="1">
                <a:solidFill>
                  <a:srgbClr val="BF9A4A"/>
                </a:solidFill>
              </a:defRPr>
            </a:pPr>
            <a:r>
              <a:t>(Rare Pattern Mining)</a:t>
            </a:r>
          </a:p>
          <a:p>
            <a:pPr algn="ctr">
              <a:spcBef>
                <a:spcPts val="1800"/>
              </a:spcBef>
              <a:defRPr sz="2000">
                <a:solidFill>
                  <a:srgbClr val="F4F6F6"/>
                </a:solidFill>
              </a:defRPr>
            </a:pPr>
            <a:r>
              <a:t>Bài tập lớn môn Khai thác dữ liệu nâng cao</a:t>
            </a:r>
          </a:p>
          <a:p>
            <a:pPr algn="ctr">
              <a:spcBef>
                <a:spcPts val="1000"/>
              </a:spcBef>
              <a:defRPr sz="1500">
                <a:solidFill>
                  <a:srgbClr val="BF9A4A"/>
                </a:solidFill>
              </a:defRPr>
            </a:pPr>
            <a:r>
              <a:t>[Họ tên sinh viên — MSSV] · Tháng 6 năm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2436876" y="4983480"/>
            <a:ext cx="7315200" cy="3810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2/18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Nội dung trình bày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Bài toán &amp; động cơ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Ba định nghĩa mẫu hiếm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2C2C2C"/>
                </a:solidFill>
              </a:rPr>
              <a:t>Ba thuật toán: AprioriRare, AprioriInverse, CORI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Độ đo tương quan &amp; tính null-invariance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Cài đặt, kiểm chứng tự động, thực nghiệm UCI Mushroom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3/18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Động cơ: mẫu hiếm nhưng giá trị 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Y tế: tổ hợp triệu chứng bệnh hiếm → giá trị chẩn đoán cao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Công nghiệp: lỗi sản phẩm hiếm gặp = đối tượng cần phát hiện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An ninh mạng: bất thường = hiếm theo định nghĩa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C15937"/>
                </a:solidFill>
              </a:rPr>
              <a:t>FIM truyền thống bỏ qua hoàn toàn các mẫu này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4/18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Vấn đề: hạ minsup là không đủ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Giải pháp ngây thơ: hạ thấp minsup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2C2C2C"/>
                </a:solidFill>
              </a:rPr>
              <a:t>Hệ quả 1: bùng nổ tổ hợp số itemset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Hệ quả 2: nhiễu — nhiều 'mẫu hiếm' có sup = 0 (không tồn tại!)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997929"/>
                </a:solidFill>
              </a:rPr>
              <a:t>Cần: định nghĩa chặt chẽ + thuật toán riêng + độ đo lọc mẫu giả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5/18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Ví dụ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T1: pasta, lemon, bread, orange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T2: pasta, lemon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T3: pasta, orange, cake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T4: pasta, lemon, orange, cake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997929"/>
                </a:solidFill>
              </a:rPr>
              <a:t>minsup = 2 → 11 itemset phổ biến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{bread}: sup = 1   •   {bread, cake}: sup =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6/18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Toàn cảnh: dòng chảy bài toán trên ví dụ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997929"/>
                </a:solidFill>
              </a:rPr>
              <a:t>CSDL 4 giao dịch —[minsup]→ Khai thác mẫu hiếm —[minbond]→ Lọc tương quan → CORI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Bước 1 — khai thác hiếm: AprioriRare → mRI = {bread}, {lemon, cake}; AprioriInverse → PRI = {bread}, …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C15937"/>
                </a:solidFill>
              </a:rPr>
              <a:t>Bước 2 — lọc mẫu giả: loại {pasta, cake} vì lift = 1, bond = 0.5 (đi cùng nhau chỉ do pasta có mặt khắp nơi)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40695B"/>
                </a:solidFill>
              </a:rPr>
              <a:t>Kết quả CORI: {bread}, {cake}, {orange, cake} — vừa hiếm vừa thật sự gắn kết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Các phần sau đi sâu vào từng khối trên chính ví dụ này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7/18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Ba định nghĩa mẫu hiếm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Infrequent: sup &lt; minsup — bùng nổ, chứa cả sup = 0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2C2C2C"/>
                </a:solidFill>
              </a:rPr>
              <a:t>Minimal rare (mRI): hiếm, mọi tập con đều phổ biến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C2C2C"/>
                </a:solidFill>
              </a:rPr>
              <a:t>      –  </a:t>
            </a:r>
            <a:r>
              <a:rPr sz="2000" b="0">
                <a:solidFill>
                  <a:srgbClr val="997929"/>
                </a:solidFill>
              </a:rPr>
              <a:t>→ biên dưới của vùng hiếm trong dàn itemset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2C2C2C"/>
                </a:solidFill>
              </a:rPr>
              <a:t>Perfectly rare (PRI): minsup ≤ sup &lt; maxsup, mọi item thành phần đều hiếm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Ví dụ (minsup=2): mRI = {bread}, {lemon, cake}   •   PRI = {bread}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8/18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AprioriRare: tìm biên hiếm tối thiểu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Duyệt theo mức (level-wise) như Apriori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2C2C2C"/>
                </a:solidFill>
              </a:rPr>
              <a:t>Ứng viên sống sót qua prune mà không phổ biến → chính là mRI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Itemset hiếm không dùng sinh ứng viên tiếp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40695B"/>
                </a:solidFill>
              </a:rPr>
              <a:t>Ví dụ: mRI = {bread}, {lemon, cake}  ✓ khớp bài giảng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C15937"/>
                </a:solidFill>
              </a:rPr>
              <a:t>Nhược: phải duyệt toàn bộ vùng phổ biến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9/18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AprioriInverse: thu hẹp ngay từ đầu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Hai ngưỡng (minsup, maxsup)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2C2C2C"/>
                </a:solidFill>
              </a:rPr>
              <a:t>Loại mọi item phổ biến ngay bước khởi tạo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Đúng đắn: mọi item hiếm → mọi tập con hiếm (điều kiện PRI tự thoả)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C15937"/>
                </a:solidFill>
              </a:rPr>
              <a:t>Đổi lại: bỏ sót mẫu lai {item hiếm + item phổ biến}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40695B"/>
                </a:solidFill>
              </a:rPr>
              <a:t>Ví dụ (1.1, 3.1): 5 PRI  ✓ khớp bài giảng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10/18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Mẫu giả: phổ biến ≠ đáng tin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2C2C2C"/>
                </a:solidFill>
              </a:rPr>
              <a:t>{pasta, cake} xuất hiện ở 50% giao dịch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Nhưng pasta có mặt trong mọi giao dịch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C15937"/>
                </a:solidFill>
              </a:rPr>
              <a:t>Đồng xuất hiện là tất yếu — không có liên hệ thật (spurious)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997929"/>
                </a:solidFill>
              </a:rPr>
              <a:t>Cần độ đo tương quan để lọc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11/18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Hai độ đo: bond và all-confidence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bond(X) = sup(X) / dsup(X) — tỉ lệ giao dịch 'liên quan' chứa toàn bộ X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2C2C2C"/>
                </a:solidFill>
              </a:rPr>
              <a:t>bond = 1: các mục luôn đi cùng nhau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allconf(X) = sup(X) / max sup(item) — confidence nhỏ nhất của mọi luật từ X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997929"/>
                </a:solidFill>
              </a:rPr>
              <a:t>Cả hai: = 1 với itemset đơn; anti-monotone → cắt tỉa kiểu Apriori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Ví dụ: bond({cake, bread}) = 0   •   bond({pasta, orange}) = 3/4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12/18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Null-invariance: vì sao lift thất bại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Null transaction: giao dịch không chứa mục nào của mẫu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C15937"/>
                </a:solidFill>
              </a:rPr>
              <a:t>χ², lift bị bóp méo bởi hàng triệu giao dịch không liên quan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2C2C2C"/>
                </a:solidFill>
              </a:rPr>
              <a:t>bond, all-confidence, cosine, Kulczynski: null-invariant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997929"/>
                </a:solidFill>
              </a:rPr>
              <a:t>Mẫu hiếm ⊂ phần rất nhỏ dữ liệu → bắt buộc dùng null-invariant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13/18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CORI: hiếm + tương quan trong một lần duyệt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2C2C2C"/>
                </a:solidFill>
              </a:rPr>
              <a:t>Rare correlated: sup(X) &lt; maxsup VÀ bond(X) ≥ minbond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Hai ràng buộc đối ngẫu: hiếm = monotone • bond = anti-monotone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Duyệt kiểu Eclat, mỗi itemset giữ TID-List + DTID-List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bond rớt ngưỡng → cắt cả nhánh; sup ≥ maxsup → chưa xuất nhưng vẫn mở rộng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40695B"/>
                </a:solidFill>
              </a:rPr>
              <a:t>Ví dụ (3, 0.6): {bread}, {cake}, {orange, cake}  ✓ khớp bài giảng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14/18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Cài đặt &amp; kiểm chứng 100%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Python 3.13, chỉ thư viện chuẩn; TID-set dùng chung cho cả 3 thuật toán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40695B"/>
                </a:solidFill>
              </a:rPr>
              <a:t>19 assert đối chiếu từng con số kỳ vọng trên ví dụ — 100% ĐẠT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Phủ FIM, AprioriRare, AprioriInverse, CORI &amp; các độ đo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2C2C2C"/>
                </a:solidFill>
              </a:rPr>
              <a:t>{pasta, cake}: lift = 1.0, bond = 0.5 → xác nhận mẫu giả bằng số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15/18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Exp A — Cái giá của việc đi xuyên vùng phổ biến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ushroom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371600"/>
            <a:ext cx="576072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394960"/>
            <a:ext cx="10607040" cy="128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997929"/>
                </a:solidFill>
              </a:rPr>
              <a:t>◆  </a:t>
            </a:r>
            <a:r>
              <a:rPr sz="1500" b="0">
                <a:solidFill>
                  <a:srgbClr val="2C2C2C"/>
                </a:solidFill>
              </a:rPr>
              <a:t>UCI Mushroom: 8 124 giao dịch, 118 item (dữ liệu dày)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997929"/>
                </a:solidFill>
              </a:rPr>
              <a:t>◆  </a:t>
            </a:r>
            <a:r>
              <a:rPr sz="1500" b="1">
                <a:solidFill>
                  <a:srgbClr val="2C2C2C"/>
                </a:solidFill>
              </a:rPr>
              <a:t>minsup 0.6 → 0.2: #frequent tăng ~890× (51 → 45 391); #mRI chỉ ~8× (122 → 986)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16/18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Exp B &amp; C — PRI rẻ, CORI giàu ngữ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ushroom_experi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1371600"/>
            <a:ext cx="10332720" cy="2893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447641"/>
            <a:ext cx="10607040" cy="2227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997929"/>
                </a:solidFill>
              </a:rPr>
              <a:t>◆  </a:t>
            </a:r>
            <a:r>
              <a:rPr sz="1500" b="0">
                <a:solidFill>
                  <a:srgbClr val="2C2C2C"/>
                </a:solidFill>
              </a:rPr>
              <a:t>AprioriInverse: mili-giây — alphabet hiếm rất nhỏ (không phải benchmark cùng điều kiện)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997929"/>
                </a:solidFill>
              </a:rPr>
              <a:t>◆  </a:t>
            </a:r>
            <a:r>
              <a:rPr sz="1500" b="1">
                <a:solidFill>
                  <a:srgbClr val="2C2C2C"/>
                </a:solidFill>
              </a:rPr>
              <a:t>CORI: bão hòa 90–104 mẫu khi nới minbond 0.95 → 0.5; mẫu bond = 1.0: {odor=m, …}, sup = 36 (0.44%)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1100" b="1">
                <a:solidFill>
                  <a:srgbClr val="BF9A4A"/>
                </a:solidFill>
              </a:defRPr>
            </a:pPr>
            <a:r>
              <a:t>17/18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1919"/>
                </a:solidFill>
              </a:defRPr>
            </a:pPr>
            <a:r>
              <a:t>Kết luận: ba đánh đổi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2C2C2C"/>
                </a:solidFill>
              </a:rPr>
              <a:t>mRI gọn nhưng đắt — phải duyệt toàn vùng phổ biến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2C2C2C"/>
                </a:solidFill>
              </a:rPr>
              <a:t>PRI rẻ nhưng hẹp — bỏ sót mẫu lai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1">
                <a:solidFill>
                  <a:srgbClr val="2C2C2C"/>
                </a:solidFill>
              </a:rPr>
              <a:t>CORI cân bằng — ràng buộc kép, kết quả nhỏ &amp; giàu ngữ nghĩa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997929"/>
                </a:solidFill>
              </a:rPr>
              <a:t>◆  </a:t>
            </a:r>
            <a:r>
              <a:rPr sz="2000" b="0">
                <a:solidFill>
                  <a:srgbClr val="997929"/>
                </a:solidFill>
              </a:rPr>
              <a:t>Hướng 2021–2026: metaheuristic (MRI-CE), fuzzy, utility, privacy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36876" y="1554480"/>
            <a:ext cx="7315200" cy="3810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01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BF9A4A"/>
                </a:solidFill>
              </a:defRPr>
            </a:pPr>
            <a:r>
              <a:t>Xin cảm ơn thầy/cô và các bạn!</a:t>
            </a:r>
          </a:p>
          <a:p>
            <a:pPr algn="ctr">
              <a:spcBef>
                <a:spcPts val="2400"/>
              </a:spcBef>
              <a:defRPr sz="1800">
                <a:solidFill>
                  <a:srgbClr val="F4F6F6"/>
                </a:solidFill>
              </a:defRPr>
            </a:pPr>
            <a:r>
              <a:t>3 định nghĩa ◆ 3 thuật toán ◆ kiểm chứng 100% ◆ UCI Mushroom</a:t>
            </a:r>
          </a:p>
          <a:p>
            <a:pPr algn="ctr">
              <a:spcBef>
                <a:spcPts val="1200"/>
              </a:spcBef>
              <a:defRPr sz="1400">
                <a:solidFill>
                  <a:srgbClr val="F4F6F6"/>
                </a:solidFill>
              </a:defRPr>
            </a:pPr>
            <a:r>
              <a:t>Mã nguồn &amp; kết quả: advantage_data_mining/code, results/</a:t>
            </a:r>
          </a:p>
          <a:p>
            <a:pPr algn="ctr">
              <a:spcBef>
                <a:spcPts val="3000"/>
              </a:spcBef>
              <a:defRPr sz="2600">
                <a:solidFill>
                  <a:srgbClr val="BF9A4A"/>
                </a:solidFill>
              </a:defRPr>
            </a:pPr>
            <a:r>
              <a:t>Mời thầy/cô và các bạn đặt câu hỏi</a:t>
            </a:r>
          </a:p>
        </p:txBody>
      </p:sp>
      <p:sp>
        <p:nvSpPr>
          <p:cNvPr id="4" name="Rectangle 3"/>
          <p:cNvSpPr/>
          <p:nvPr/>
        </p:nvSpPr>
        <p:spPr>
          <a:xfrm>
            <a:off x="2436876" y="5303520"/>
            <a:ext cx="7315200" cy="3810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