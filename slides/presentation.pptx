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Chờ giới thiệu. 'Em xin chào thầy/cô và các bạn. Hôm nay em trình bày đề tài Khai thác các mẫu hiếm — Rare Pattern Mining.' (0:15)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Lướt nhanh 5 phần. Chuyển: 'Bắt đầu từ câu hỏi vì sao cần mẫu hiếm.' (0:20)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bằng câu hỏi: 'Điều thú vị nhất trong dữ liệu có phải là điều xảy ra thường xuyên nhất không?'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Hạ minsup làm dàn itemset bùng nổ; nhiều itemset không tồn tại trong dữ liệu. Chuyển: 'Để nói chuyện cụ thể, em dùng một ví dụ nhỏ.'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CSDL 4 giao dịch theo bài giảng. Pasta có mặt mọi giao dịch — chi tiết này quay lại ở phần mẫu giả. (0:45)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Tâm điểm lý thuyết — hình ảnh 'đường biên' trong dàn itemset. mRI nhỏ gọn mà đại diện mọi mẫu hiếm; PRI thêm ngưỡng dưới loại nhiễu.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 prune nghĩa là mọi tập con đều phổ biến → không phổ biến là tự động thành mRI. Nhược điểm chi phí định lượng ở Exp A.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gian nhỏ hơn hẳn; cái giá là bỏ sót mẫu lai như {bệnh hiếm + triệu chứng phổ biến}.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mạch sang nửa sau: hiếm thôi chưa đủ, còn cần 'thật'. (0:45)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tính anti-monotone — CORI dùng nó để cắt tỉa cả nhánh.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Mẫu hiếm chỉ chạm phần rất nhỏ dữ liệu, còn lại toàn null transactions — độ đo nhạy với chúng bị bóp méo trên dữ liệu thưa. (0:45)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Khi nối hai itemset: TID-List lấy giao, DTID-List lấy hợp — support và bond tính ngay. Nút chưa hiếm vẫn phải mở rộng.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assert phủ toàn bộ: bảng FIM, ba thuật toán, bond, all-confidence, TID/DTID-List — tất cả khớp kết quả tính tay trên ví dụ minh họa.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Thời gian AprioriRare tăng theo cấp mũ khi minsup giảm. mRI gọn nhưng chi phí bị chi phối bởi vùng phổ biến.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Mẫu đắt giá nhất: 36 cây nấm mùi mốc luôn đồng thời không vòng cuống + cuống màu quế — bond = 1 tuyệt đối, FIM không bao giờ chạm tới. (1:15)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Thông điệp: không có định nghĩa hiếm 'đúng' duy nhất — chỉ có đánh đổi; null-invariance là bắt buộc trên dữ liệu thưa. (0:50)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ơn, mời câu hỏi. Chuẩn bị sẵn Q&amp;A trong TALK_SCRIPT.md. (0:20)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</a:defRPr>
            </a:pPr>
            <a:r>
              <a:t>Khai thác các mẫu hiếm (Rare Pattern Mining)</a:t>
            </a:r>
          </a:p>
          <a:p>
            <a:pPr algn="ctr">
              <a:defRPr sz="2400">
                <a:solidFill>
                  <a:srgbClr val="2563EB"/>
                </a:solidFill>
              </a:defRPr>
            </a:pPr>
            <a:r>
              <a:t>Bài tập lớn môn Khai thác dữ liệu nâng cao</a:t>
            </a:r>
          </a:p>
          <a:p>
            <a:pPr algn="ctr">
              <a:defRPr sz="1800">
                <a:solidFill>
                  <a:srgbClr val="1E1E1E"/>
                </a:solidFill>
              </a:defRPr>
            </a:pPr>
            <a:r>
              <a:t>[Họ tên sinh viên — MSSV] · Tháng 6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Nội dung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Bài toán &amp; động cơ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Ba định nghĩa mẫu hiếm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Ba thuật toán: AprioriRare, AprioriInverse, CORI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Độ đo tương quan &amp; tính null-invariance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Cài đặt, kiểm chứng tự động, thực nghiệm UCI Mushroom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Động cơ: mẫu hiếm nhưng giá trị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Y tế: tổ hợp triệu chứng bệnh hiếm → giá trị chẩn đoán cao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Công nghiệp: lỗi sản phẩm hiếm gặp = đối tượng cần phát hiện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An ninh mạng: bất thường = hiếm theo định nghĩa</a:t>
            </a:r>
          </a:p>
          <a:p>
            <a:pPr>
              <a:spcAft>
                <a:spcPts val="1200"/>
              </a:spcAft>
              <a:defRPr sz="2000" b="1">
                <a:solidFill>
                  <a:srgbClr val="DC2626"/>
                </a:solidFill>
              </a:defRPr>
            </a:pPr>
            <a:r>
              <a:t>• FIM truyền thống bỏ qua hoàn toàn các mẫu này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Vấn đề: hạ minsup là không đủ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Giải pháp ngây thơ: hạ thấp minsup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Hệ quả 1: bùng nổ tổ hợp số itemset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Hệ quả 2: nhiễu — nhiều 'mẫu hiếm' có sup = 0 (không tồn tại!)</a:t>
            </a:r>
          </a:p>
          <a:p>
            <a:pPr>
              <a:spcAft>
                <a:spcPts val="1200"/>
              </a:spcAft>
              <a:defRPr sz="2000" b="0">
                <a:solidFill>
                  <a:srgbClr val="2563EB"/>
                </a:solidFill>
              </a:defRPr>
            </a:pPr>
            <a:r>
              <a:t>• Cần: định nghĩa chặt chẽ + thuật toán riêng + độ đo lọc mẫu giả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Ví dụ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T1: pasta, lemon, bread, orange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T2: pasta, lemon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T3: pasta, orange, cake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T4: pasta, lemon, orange, cake</a:t>
            </a:r>
          </a:p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• minsup = 2 → 11 itemset phổ biến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{bread}: sup = 1   •   {bread, cake}: sup =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Ba định nghĩa mẫu hiếm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Infrequent: sup &lt; minsup — bùng nổ, chứa cả sup = 0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Minimal rare (mRI): hiếm, mọi tập con đều phổ biến</a:t>
            </a:r>
          </a:p>
          <a:p>
            <a:pPr>
              <a:spcAft>
                <a:spcPts val="1200"/>
              </a:spcAft>
              <a:defRPr sz="2000" b="0">
                <a:solidFill>
                  <a:srgbClr val="2563EB"/>
                </a:solidFill>
              </a:defRPr>
            </a:pPr>
            <a:r>
              <a:t>   – → biên dưới của vùng hiếm trong dàn itemset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Perfectly rare (PRI): minsup ≤ sup &lt; maxsup, mọi item thành phần đều hiếm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Ví dụ (minsup=2): mRI = {bread}, {lemon, cake}   •   PRI = {bread}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AprioriRare: tìm biên hiếm tối thiểu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Duyệt theo mức (level-wise) như Apriori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Ứng viên sống sót qua prune mà không phổ biến → chính là mRI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Itemset hiếm không dùng sinh ứng viên tiếp</a:t>
            </a:r>
          </a:p>
          <a:p>
            <a:pPr>
              <a:spcAft>
                <a:spcPts val="1200"/>
              </a:spcAft>
              <a:defRPr sz="2000" b="0">
                <a:solidFill>
                  <a:srgbClr val="059669"/>
                </a:solidFill>
              </a:defRPr>
            </a:pPr>
            <a:r>
              <a:t>• Ví dụ: mRI = {bread}, {lemon, cake}  ✓ khớp bài giảng</a:t>
            </a:r>
          </a:p>
          <a:p>
            <a:pPr>
              <a:spcAft>
                <a:spcPts val="1200"/>
              </a:spcAft>
              <a:defRPr sz="2000" b="1">
                <a:solidFill>
                  <a:srgbClr val="DC2626"/>
                </a:solidFill>
              </a:defRPr>
            </a:pPr>
            <a:r>
              <a:t>• Nhược: phải duyệt toàn bộ vùng phổ biến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AprioriInverse: thu hẹp ngay từ đầu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Hai ngưỡng (minsup, maxsup)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Loại mọi item phổ biến ngay bước khởi tạo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Đúng đắn: mọi item hiếm → mọi tập con hiếm (điều kiện PRI tự thoả)</a:t>
            </a:r>
          </a:p>
          <a:p>
            <a:pPr>
              <a:spcAft>
                <a:spcPts val="1200"/>
              </a:spcAft>
              <a:defRPr sz="2000" b="0">
                <a:solidFill>
                  <a:srgbClr val="DC2626"/>
                </a:solidFill>
              </a:defRPr>
            </a:pPr>
            <a:r>
              <a:t>• Đổi lại: bỏ sót mẫu lai {item hiếm + item phổ biến}</a:t>
            </a:r>
          </a:p>
          <a:p>
            <a:pPr>
              <a:spcAft>
                <a:spcPts val="1200"/>
              </a:spcAft>
              <a:defRPr sz="2000" b="0">
                <a:solidFill>
                  <a:srgbClr val="059669"/>
                </a:solidFill>
              </a:defRPr>
            </a:pPr>
            <a:r>
              <a:t>• Ví dụ (1.1, 3.1): 5 PRI  ✓ khớp bài giảng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Mẫu giả: phổ biến ≠ đáng tin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{pasta, cake} xuất hiện ở 50% giao dịch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Nhưng pasta có mặt trong mọi giao dịch</a:t>
            </a:r>
          </a:p>
          <a:p>
            <a:pPr>
              <a:spcAft>
                <a:spcPts val="1200"/>
              </a:spcAft>
              <a:defRPr sz="2000" b="0">
                <a:solidFill>
                  <a:srgbClr val="DC2626"/>
                </a:solidFill>
              </a:defRPr>
            </a:pPr>
            <a:r>
              <a:t>• Đồng xuất hiện là tất yếu — không có liên hệ thật (spurious)</a:t>
            </a:r>
          </a:p>
          <a:p>
            <a:pPr>
              <a:spcAft>
                <a:spcPts val="1200"/>
              </a:spcAft>
              <a:defRPr sz="2000" b="0">
                <a:solidFill>
                  <a:srgbClr val="2563EB"/>
                </a:solidFill>
              </a:defRPr>
            </a:pPr>
            <a:r>
              <a:t>• Cần độ đo tương quan để lọc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Hai độ đo: bond và all-confidence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bond(X) = sup(X) / dsup(X) — tỉ lệ giao dịch 'liên quan' chứa toàn bộ X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bond = 1: các mục luôn đi cùng nhau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allconf(X) = sup(X) / max sup(item) — confidence nhỏ nhất của mọi luật từ X</a:t>
            </a:r>
          </a:p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• Cả hai: = 1 với itemset đơn; anti-monotone → cắt tỉa kiểu Apriori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Ví dụ: bond({cake, bread}) = 0   •   bond({pasta, orange}) = 3/4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Null-invariance: vì sao lift thất bại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Null transaction: giao dịch không chứa mục nào của mẫu</a:t>
            </a:r>
          </a:p>
          <a:p>
            <a:pPr>
              <a:spcAft>
                <a:spcPts val="1200"/>
              </a:spcAft>
              <a:defRPr sz="2000" b="0">
                <a:solidFill>
                  <a:srgbClr val="DC2626"/>
                </a:solidFill>
              </a:defRPr>
            </a:pPr>
            <a:r>
              <a:t>• χ², lift bị bóp méo bởi hàng triệu giao dịch không liên quan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bond, all-confidence, cosine, Kulczynski: null-invariant</a:t>
            </a:r>
          </a:p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</a:defRPr>
            </a:pPr>
            <a:r>
              <a:t>• Mẫu hiếm ⊂ phần rất nhỏ dữ liệu → bắt buộc dùng null-invariant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CORI: hiếm + tương quan trong một lần duyệt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Rare correlated: sup(X) &lt; maxsup VÀ bond(X) ≥ minbond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Hai ràng buộc đối ngẫu: hiếm = monotone • bond = anti-monotone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Duyệt kiểu Eclat, mỗi itemset giữ TID-List + DTID-List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bond rớt ngưỡng → cắt cả nhánh; sup ≥ maxsup → chưa xuất nhưng vẫn mở rộng</a:t>
            </a:r>
          </a:p>
          <a:p>
            <a:pPr>
              <a:spcAft>
                <a:spcPts val="1200"/>
              </a:spcAft>
              <a:defRPr sz="2000" b="0">
                <a:solidFill>
                  <a:srgbClr val="059669"/>
                </a:solidFill>
              </a:defRPr>
            </a:pPr>
            <a:r>
              <a:t>• Ví dụ (3, 0.6): {bread}, {cake}, {orange, cake}  ✓ khớp bài giảng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Cài đặt &amp; kiểm chứng 100%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Python 3.13, chỉ thư viện chuẩn; TID-set dùng chung cho cả 3 thuật toán</a:t>
            </a:r>
          </a:p>
          <a:p>
            <a:pPr>
              <a:spcAft>
                <a:spcPts val="1200"/>
              </a:spcAft>
              <a:defRPr sz="2000" b="1">
                <a:solidFill>
                  <a:srgbClr val="059669"/>
                </a:solidFill>
              </a:defRPr>
            </a:pPr>
            <a:r>
              <a:t>• 19 assert đối chiếu từng con số kỳ vọng trên ví dụ — 100% ĐẠT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Phủ FIM, AprioriRare, AprioriInverse, CORI &amp; các độ đo</a:t>
            </a:r>
          </a:p>
          <a:p>
            <a:pPr>
              <a:spcAft>
                <a:spcPts val="1200"/>
              </a:spcAft>
              <a:defRPr sz="2000" b="0">
                <a:solidFill>
                  <a:srgbClr val="1E1E1E"/>
                </a:solidFill>
              </a:defRPr>
            </a:pPr>
            <a:r>
              <a:t>• {pasta, cake}: lift = 1.0, bond = 0.5 → xác nhận mẫu giả bằng số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Exp A — Cái giá của việc đi xuyên vùng phổ biến</a:t>
            </a:r>
          </a:p>
        </p:txBody>
      </p:sp>
      <p:pic>
        <p:nvPicPr>
          <p:cNvPr id="3" name="Picture 2" descr="mushroom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280160"/>
            <a:ext cx="589788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UCI Mushroom: 8 124 giao dịch, 118 item (dữ liệu dày)</a:t>
            </a:r>
          </a:p>
          <a:p>
            <a:pPr>
              <a:spcAft>
                <a:spcPts val="600"/>
              </a:spcAft>
              <a:defRPr sz="1500" b="1">
                <a:solidFill>
                  <a:srgbClr val="1E1E1E"/>
                </a:solidFill>
              </a:defRPr>
            </a:pPr>
            <a:r>
              <a:t>• minsup 0.6 → 0.2: #frequent tăng ~890× (51 → 45 391); #mRI chỉ ~8× (122 → 986)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Exp B &amp; C — PRI rẻ, CORI giàu ngữ nghĩa</a:t>
            </a:r>
          </a:p>
        </p:txBody>
      </p:sp>
      <p:pic>
        <p:nvPicPr>
          <p:cNvPr id="3" name="Picture 2" descr="mushroom_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280160"/>
            <a:ext cx="14042571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AprioriInverse: mili-giây — alphabet hiếm rất nhỏ (không phải benchmark cùng điều kiện)</a:t>
            </a:r>
          </a:p>
          <a:p>
            <a:pPr>
              <a:spcAft>
                <a:spcPts val="600"/>
              </a:spcAft>
              <a:defRPr sz="1500" b="1">
                <a:solidFill>
                  <a:srgbClr val="1E1E1E"/>
                </a:solidFill>
              </a:defRPr>
            </a:pPr>
            <a:r>
              <a:t>• CORI: bão hòa 90–104 mẫu khi nới minbond 0.95 → 0.5; mẫu bond = 1.0: {odor=m, …}, sup = 36 (0.44%)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8B5CF6"/>
                </a:solidFill>
              </a:defRPr>
            </a:pPr>
            <a:r>
              <a:t>Kết luận: ba đánh đổi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mRI gọn nhưng đắt — phải duyệt toàn vùng phổ biến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PRI rẻ nhưng hẹp — bỏ sót mẫu lai</a:t>
            </a:r>
          </a:p>
          <a:p>
            <a:pPr>
              <a:spcAft>
                <a:spcPts val="1200"/>
              </a:spcAft>
              <a:defRPr sz="2000" b="1">
                <a:solidFill>
                  <a:srgbClr val="1E1E1E"/>
                </a:solidFill>
              </a:defRPr>
            </a:pPr>
            <a:r>
              <a:t>• CORI cân bằng — ràng buộc kép, kết quả nhỏ &amp; giàu ngữ nghĩa</a:t>
            </a:r>
          </a:p>
          <a:p>
            <a:pPr>
              <a:spcAft>
                <a:spcPts val="1200"/>
              </a:spcAft>
              <a:defRPr sz="2000" b="0">
                <a:solidFill>
                  <a:srgbClr val="2563EB"/>
                </a:solidFill>
              </a:defRPr>
            </a:pPr>
            <a:r>
              <a:t>• Hướng 2021–2026: metaheuristic (MRI-CE), fuzzy, utility, privacy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</a:defRPr>
            </a:pPr>
            <a:r>
              <a:t>Xin cảm ơn thầy/cô và các bạn!</a:t>
            </a:r>
          </a:p>
          <a:p>
            <a:pPr algn="ctr">
              <a:defRPr sz="2000">
                <a:solidFill>
                  <a:srgbClr val="1E1E1E"/>
                </a:solidFill>
              </a:defRPr>
            </a:pPr>
            <a:r>
              <a:t>3 định nghĩa • 3 thuật toán • kiểm chứng 100% • UCI Mushroom</a:t>
            </a:r>
          </a:p>
          <a:p>
            <a:pPr algn="ctr">
              <a:defRPr sz="1600">
                <a:solidFill>
                  <a:srgbClr val="1E1E1E"/>
                </a:solidFill>
              </a:defRPr>
            </a:pPr>
            <a:r>
              <a:t>Mã nguồn &amp; kết quả: advantage_data_mining/code, results/</a:t>
            </a:r>
          </a:p>
          <a:p>
            <a:pPr algn="ctr">
              <a:defRPr sz="2600">
                <a:solidFill>
                  <a:srgbClr val="1E1E1E"/>
                </a:solidFill>
              </a:defRPr>
            </a:pPr>
            <a:r>
              <a:t>Mời thầy/cô và các bạn đặt câu hỏi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