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3" r:id="rId28"/>
    <p:sldId id="271" r:id="rId22"/>
    <p:sldId id="272" r:id="rId23"/>
  </p:sldIdLst>
  <p:sldSz cy="6858000" cx="12188950"/>
  <p:notesSz cx="6858000" cy="9144000"/>
  <p:embeddedFontLs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9F1551-8E4E-45A8-9962-AE138C5BC835}">
  <a:tblStyle styleId="{BD9F1551-8E4E-45A8-9962-AE138C5BC8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Merriweather-regular.fntdata"/><Relationship Id="rId25" Type="http://schemas.openxmlformats.org/officeDocument/2006/relationships/font" Target="fonts/Merriweather-bold.fntdata"/><Relationship Id="rId26" Type="http://schemas.openxmlformats.org/officeDocument/2006/relationships/font" Target="fonts/Merriweather-italic.fntdata"/><Relationship Id="rId27" Type="http://schemas.openxmlformats.org/officeDocument/2006/relationships/font" Target="fonts/Merriweather-boldItalic.fntdata"/><Relationship Id="rId28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Chờ giới thiệu. 'Em xin chào thầy/cô và các bạn. Hôm nay em trình bày đề tài Khai thác các mẫu hiếm — Rare Pattern Mining.' (0:15)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Lướt nhanh 5 phần. Chuyển: 'Bắt đầu từ câu hỏi vì sao cần mẫu hiếm.' (0:20)</a:t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Mở bằng câu hỏi: 'Điều thú vị nhất trong dữ liệu có phải là điều xảy ra thường xuyên nhất không?' (1:00)</a:t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Hạ minsup làm dàn itemset bùng nổ; nhiều itemset không tồn tại trong dữ liệu. Chuyển: 'Để nói chuyện cụ thể, em dùng một ví dụ nhỏ.' (1:00)</a:t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CSDL 4 giao dịch theo bài giảng. Pasta có mặt mọi giao dịch — chi tiết này quay lại ở phần mẫu giả. (0:45)</a:t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Tâm điểm lý thuyết — hình ảnh 'đường biên' trong dàn itemset. mRI nhỏ gọn mà đại diện mọi mẫu hiếm; PRI thêm ngưỡng dưới loại nhiễu. (1:15)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 prune nghĩa là mọi tập con đều phổ biến → không phổ biến là tự động thành mRI. Nhược điểm chi phí định lượng ở Exp A. (1:15)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Không gian nhỏ hơn hẳn; cái giá là bỏ sót mẫu lai như {bệnh hiếm + triệu chứng phổ biến}. (1:00)</a:t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Chuyển mạch sang nửa sau: hiếm thôi chưa đủ, còn cần 'thật'. (0:45)</a:t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Nhấn tính anti-monotone — CORI dùng nó để cắt tỉa cả nhánh. (1:00)</a:t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Mẫu hiếm chỉ chạm phần rất nhỏ dữ liệu, còn lại toàn null transactions — độ đo nhạy với chúng bị bóp méo trên dữ liệu thưa. (0:45)</a:t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Khi nối hai itemset: TID-List lấy giao, DTID-List lấy hợp — support và bond tính ngay. Nút chưa hiếm vẫn phải mở rộng. (1:15)</a:t>
            </a:r>
            <a:endParaRPr/>
          </a:p>
        </p:txBody>
      </p:sp>
      <p:sp>
        <p:nvSpPr>
          <p:cNvPr id="192" name="Google Shape;19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 assert phủ toàn bộ: bảng FIM, ba thuật toán, bond, all-confidence, TID/DTID-List — tất cả khớp kết quả tính tay trên ví dụ minh họa. (1:00)</a:t>
            </a:r>
            <a:endParaRPr/>
          </a:p>
        </p:txBody>
      </p:sp>
      <p:sp>
        <p:nvSpPr>
          <p:cNvPr id="202" name="Google Shape;20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Thời gian AprioriRare tăng theo cấp mũ khi minsup giảm. mRI gọn nhưng chi phí bị chi phối bởi vùng phổ biến. (1:00)</a:t>
            </a:r>
            <a:endParaRPr/>
          </a:p>
        </p:txBody>
      </p:sp>
      <p:sp>
        <p:nvSpPr>
          <p:cNvPr id="212" name="Google Shape;21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Mẫu đắt giá nhất: 36 cây nấm mùi mốc luôn đồng thời không vòng cuống + cuống màu quế — bond = 1 tuyệt đối, FIM không bao giờ chạm tới. (1:15)</a:t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Thông điệp: không có định nghĩa hiếm 'đúng' duy nhất — chỉ có đánh đổi; null-invariance là bắt buộc trên dữ liệu thưa. (0:50)</a:t>
            </a:r>
            <a:endParaRPr/>
          </a:p>
        </p:txBody>
      </p:sp>
      <p:sp>
        <p:nvSpPr>
          <p:cNvPr id="234" name="Google Shape;23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Cảm ơn, mời câu hỏi. Chuẩn bị sẵn Q&amp;A trong TALK_SCRIPT.md. (0:20)</a:t>
            </a:r>
            <a:endParaRPr/>
          </a:p>
        </p:txBody>
      </p:sp>
      <p:sp>
        <p:nvSpPr>
          <p:cNvPr id="244" name="Google Shape;24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2436876" y="1874519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2148840"/>
            <a:ext cx="103602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Khai thác các mẫu hiếm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(Rare Pattern Mining)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F4F6F6"/>
                </a:solidFill>
                <a:latin typeface="Merriweather"/>
                <a:ea typeface="Merriweather"/>
                <a:cs typeface="Merriweather"/>
                <a:sym typeface="Merriweather"/>
              </a:rPr>
              <a:t>Bài tập lớn môn Khai thác dữ liệu nâng cao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[</a:t>
            </a:r>
            <a:r>
              <a:rPr lang="en-US" sz="1500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Võ Thị Trà Giang</a:t>
            </a:r>
            <a:r>
              <a:rPr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 — </a:t>
            </a:r>
            <a:r>
              <a:rPr lang="en-US" sz="1500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24752121</a:t>
            </a:r>
            <a:r>
              <a:rPr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] · Tháng 6 năm 2026</a:t>
            </a:r>
            <a:endParaRPr i="0" sz="1500" u="none" cap="none" strike="noStrike">
              <a:solidFill>
                <a:srgbClr val="BF9A4A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F4F6F6"/>
                </a:solidFill>
                <a:latin typeface="Merriweather"/>
                <a:ea typeface="Merriweather"/>
                <a:cs typeface="Merriweather"/>
                <a:sym typeface="Merriweather"/>
              </a:rPr>
              <a:t>Giảng Viên: TS Phạm Thị Thiết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F9A4A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436876" y="4983480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Calibri"/>
                <a:ea typeface="Calibri"/>
                <a:cs typeface="Calibri"/>
                <a:sym typeface="Calibri"/>
              </a:rPr>
              <a:t>2/18</a:t>
            </a:r>
            <a:endParaRPr sz="1500"/>
          </a:p>
        </p:txBody>
      </p:sp>
      <p:sp>
        <p:nvSpPr>
          <p:cNvPr id="95" name="Google Shape;95;p14"/>
          <p:cNvSpPr txBox="1"/>
          <p:nvPr/>
        </p:nvSpPr>
        <p:spPr>
          <a:xfrm>
            <a:off x="777240" y="320040"/>
            <a:ext cx="10972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Nội dung trình bày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1371600"/>
            <a:ext cx="106071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AutoNum type="arabicPeriod"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Bài toán &amp; động cơ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AutoNum type="arabicPeriod"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Ba định nghĩa mẫu hiếm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AutoNum type="arabicPeriod"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Ba thuật toán: AprioriRare, AprioriInverse, CORI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AutoNum type="arabicPeriod"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Độ đo tương quan &amp; tính null-invariance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AutoNum type="arabicPeriod"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Cài đặt, kiểm chứng tự động, thực nghiệm UCI Mushroom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AutoNum type="arabicPeriod"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Đề xuất cải tiến CORI+ &amp; đánh giá tăng tốc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3/18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77240" y="320040"/>
            <a:ext cx="10972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Động cơ: mẫu hiếm nhưng giá trị cao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14400" y="1371600"/>
            <a:ext cx="106071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Y tế: tổ hợp triệu chứng bệnh hiếm → giá trị chẩn đoán cao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Công nghiệp: lỗi sản phẩm hiếm gặp = đối tượng cần phát hiện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An ninh mạng: bất thường = hiếm theo định nghĩa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C15937"/>
                </a:solidFill>
                <a:latin typeface="Merriweather"/>
                <a:ea typeface="Merriweather"/>
                <a:cs typeface="Merriweather"/>
                <a:sym typeface="Merriweather"/>
              </a:rPr>
              <a:t>FIM truyền thống bỏ qua hoàn toàn các mẫu này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4/18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Vấn đề: hạ minsup là không đủ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914400" y="1371600"/>
            <a:ext cx="106071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Giải pháp ngây thơ: hạ thấp minsup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Hệ quả 1: bùng nổ tổ hợp số itemset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Hệ quả 2: nhiễu — nhiều 'mẫu hiếm' có sup = 0 (không tồn tại!)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Cần: định nghĩa chặt chẽ + thuật toán riêng + độ đo lọc mẫu giả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5/18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Ví dụ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73825" y="5309575"/>
            <a:ext cx="10607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minsup = 2 → 11 itemset phổ biến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{bread}: sup = 1   •   {bread, cake}: sup = 0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28" name="Google Shape;128;p17"/>
          <p:cNvGraphicFramePr/>
          <p:nvPr/>
        </p:nvGraphicFramePr>
        <p:xfrm>
          <a:off x="881275" y="144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{BD9F1551-8E4E-45A8-9962-AE138C5BC835}</a:tableStyleId>
              </a:tblPr>
              <a:tblGrid>
                <a:gridCol w="2710125"/>
                <a:gridCol w="7573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Transaction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Items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T1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pasta, lemon, bread, orange</a:t>
                      </a:r>
                      <a:endParaRPr sz="3000">
                        <a:solidFill>
                          <a:schemeClr val="dk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T2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pasta, lemon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T3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pasta, orange, cake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T4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C2C2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pasta, lemon, orange, cake</a:t>
                      </a:r>
                      <a:endParaRPr sz="3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6/18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Ba định nghĩa mẫu hiếm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914400" y="1371600"/>
            <a:ext cx="106071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Infrequent: sup &lt; minsup — bùng nổ, chứa cả sup = 0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Minimal rare (mRI): hiếm, mọi tập con đều phổ biến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      –  </a:t>
            </a:r>
            <a:r>
              <a:rPr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→ biên dưới của vùng hiếm trong dàn itemset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Perfectly rare (PRI): minsup ≤ sup &lt; maxsup, mọi item thành phần đều hiếm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Ví dụ (minsup=2): mRI = {bread}, {lemon, cake}   •   PRI = {bread}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7/18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AprioriRare: tìm biên hiếm tối thiểu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914400" y="1371600"/>
            <a:ext cx="106071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Duyệt theo mức (level-wise) như Apriori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Ứng viên sống sót qua prune mà không phổ biến → chính là mRI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Itemset hiếm không dùng sinh ứng viên tiếp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40695B"/>
                </a:solidFill>
                <a:latin typeface="Merriweather"/>
                <a:ea typeface="Merriweather"/>
                <a:cs typeface="Merriweather"/>
                <a:sym typeface="Merriweather"/>
              </a:rPr>
              <a:t>Ví dụ: mRI = {bread}, {lemon, cake} 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C15937"/>
                </a:solidFill>
                <a:latin typeface="Merriweather"/>
                <a:ea typeface="Merriweather"/>
                <a:cs typeface="Merriweather"/>
                <a:sym typeface="Merriweather"/>
              </a:rPr>
              <a:t>Nhược: phải duyệt toàn bộ vùng phổ biến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8/18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AprioriInverse: thu hẹp ngay từ đầu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914400" y="1371600"/>
            <a:ext cx="106071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Hai ngưỡng (minsup, maxsup)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Loại mọi item phổ biến ngay bước khởi tạo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Đúng đắn: mọi item hiếm → mọi tập con hiếm (điều kiện PRI tự thoả)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C15937"/>
                </a:solidFill>
                <a:latin typeface="Merriweather"/>
                <a:ea typeface="Merriweather"/>
                <a:cs typeface="Merriweather"/>
                <a:sym typeface="Merriweather"/>
              </a:rPr>
              <a:t>Đổi lại: bỏ sót mẫu lai {item hiếm + item phổ biến}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40695B"/>
                </a:solidFill>
                <a:latin typeface="Merriweather"/>
                <a:ea typeface="Merriweather"/>
                <a:cs typeface="Merriweather"/>
                <a:sym typeface="Merriweather"/>
              </a:rPr>
              <a:t>Ví dụ (1.1, 3.1): 5 PRI  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0" y="6309360"/>
            <a:ext cx="41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F9A4A"/>
                </a:solidFill>
                <a:latin typeface="Calibri"/>
                <a:ea typeface="Calibri"/>
                <a:cs typeface="Calibri"/>
                <a:sym typeface="Calibri"/>
              </a:rPr>
              <a:t>9/18</a:t>
            </a:r>
            <a:endParaRPr sz="1500"/>
          </a:p>
        </p:txBody>
      </p:sp>
      <p:sp>
        <p:nvSpPr>
          <p:cNvPr id="166" name="Google Shape;166;p21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Mẫu giả: phổ biến ≠ đáng tin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914400" y="1371600"/>
            <a:ext cx="10607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{pasta, cake} xuất hiện ở 50% giao dịch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Nhưng pasta có mặt trong mọi giao dịch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C15937"/>
                </a:solidFill>
                <a:latin typeface="Merriweather"/>
                <a:ea typeface="Merriweather"/>
                <a:cs typeface="Merriweather"/>
                <a:sym typeface="Merriweather"/>
              </a:rPr>
              <a:t>Đồng xuất hiện là tất yếu — không có liên hệ thật (spurious)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Cần độ đo tương quan để lọc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0" y="6309360"/>
            <a:ext cx="41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10/18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Hai độ đo: bond và all-confidence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914400" y="1371600"/>
            <a:ext cx="106071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bond(X) = sup(X) / dsup(X) — tỉ lệ giao dịch 'liên quan' chứa toàn bộ X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bond = 1: các mục luôn đi cùng nhau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allconf(X) = sup(X) / max sup(item) — confidence nhỏ nhất của mọi luật từ X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Cả hai: = 1 với itemset đơn; anti-monotone → cắt tỉa kiểu Apriori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Ví dụ: bond({cake, bread}) = 0   •   bond({pasta, orange}) = 3/4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0" y="6309360"/>
            <a:ext cx="41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11/18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Null-invariance: vì sao lift thất bại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914400" y="1371600"/>
            <a:ext cx="10607100" cy="4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Null transaction: giao dịch không chứa mục nào của mẫu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C15937"/>
                </a:solidFill>
                <a:latin typeface="Merriweather"/>
                <a:ea typeface="Merriweather"/>
                <a:cs typeface="Merriweather"/>
                <a:sym typeface="Merriweather"/>
              </a:rPr>
              <a:t>χ², lift bị bóp méo bởi hàng triệu giao dịch không liên quan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bond, all-confidence, cosine, Kulczynski: null-invariant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Mẫu hiếm ⊂ phần rất nhỏ dữ liệu → bắt buộc dùng null-invariant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0" y="6309360"/>
            <a:ext cx="41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12/18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CORI: hiếm + tương quan trong một lần duyệt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914400" y="1371600"/>
            <a:ext cx="106071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Rare correlated: sup(X) &lt; maxsup VÀ bond(X) ≥ minbond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Hai ràng buộc đối ngẫu: hiếm = monotone • bond = anti-monotone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Duyệt kiểu Eclat, mỗi itemset giữ TID-List + DTID-List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bond rớt ngưỡng → cắt cả nhánh; sup ≥ maxsup → chưa xuất nhưng vẫn mở rộng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40695B"/>
                </a:solidFill>
                <a:latin typeface="Merriweather"/>
                <a:ea typeface="Merriweather"/>
                <a:cs typeface="Merriweather"/>
                <a:sym typeface="Merriweather"/>
              </a:rPr>
              <a:t>Ví dụ (3, 0.6): {bread}, {cake}, {orange, cake} 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Calibri"/>
                <a:ea typeface="Calibri"/>
                <a:cs typeface="Calibri"/>
                <a:sym typeface="Calibri"/>
              </a:rPr>
              <a:t>13/18</a:t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Cài đặt &amp; kiểm chứng 100%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914400" y="1371600"/>
            <a:ext cx="106071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3.13, chỉ thư viện chuẩn; TID-set dùng chung cho cả 3 thuật toán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40695B"/>
                </a:solidFill>
                <a:latin typeface="Merriweather"/>
                <a:ea typeface="Merriweather"/>
                <a:cs typeface="Merriweather"/>
                <a:sym typeface="Merriweather"/>
              </a:rPr>
              <a:t>19 assert đối chiếu từng con số kỳ vọng trên ví dụ </a:t>
            </a:r>
            <a:endParaRPr b="1" sz="3000">
              <a:solidFill>
                <a:srgbClr val="40695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Phủ FIM, AprioriRare, AprioriInverse, CORI &amp; các độ đo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{pasta, cake}: lift = 1.0, bond = 0.5 → xác nhận mẫu giả bằng số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Calibri"/>
                <a:ea typeface="Calibri"/>
                <a:cs typeface="Calibri"/>
                <a:sym typeface="Calibri"/>
              </a:rPr>
              <a:t>14/18</a:t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Exp A — Cái giá của việc đi xuyên vùng phổ biến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ushroom_runtime.png" id="218" name="Google Shape;2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856" y="1219200"/>
            <a:ext cx="57607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 txBox="1"/>
          <p:nvPr/>
        </p:nvSpPr>
        <p:spPr>
          <a:xfrm>
            <a:off x="892500" y="5234110"/>
            <a:ext cx="10607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UCI Mushroom: 8 124 giao dịch, 118 item (dữ liệu dày)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minsup 0.6 → 0.2: #frequent tăng ~890× (51 → 45 391); #mRI chỉ ~8× (122 → 986)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Calibri"/>
                <a:ea typeface="Calibri"/>
                <a:cs typeface="Calibri"/>
                <a:sym typeface="Calibri"/>
              </a:rPr>
              <a:t>15/18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Exp B &amp; C — PRI rẻ, CORI giàu ngữ nghĩa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ushroom_experiments.png"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856" y="1371600"/>
            <a:ext cx="10332720" cy="289316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/>
        </p:nvSpPr>
        <p:spPr>
          <a:xfrm>
            <a:off x="914400" y="4447641"/>
            <a:ext cx="106071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AprioriInverse: mili-giây — alphabet hiếm rất nhỏ (không phải benchmark cùng điều kiện)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CORI: bão hòa 90–104 mẫu khi nới minbond 0.95 → 0.5; mẫu bond = 1.0: {odor=m, …}, sup = 36 (0.44%)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" name="Google Shape;194;p2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0" y="6309360"/>
            <a:ext cx="41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16/18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CORI+: cải tiến đề xuất (cận trên all-confidence)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914400" y="1371600"/>
            <a:ext cx="106071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Nghẽn của CORI: mỗi ứng viên phải dựng DTID-List (phép HỢP) để tính bond — đắt trên dữ liệu dày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Bổ đề: bond(X) ≤ allconf(X) = sup(X) / max sup(item)  (vì dsup ≥ max sup item)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→ allconf &lt; minbond ⇒ bond &lt; minbond: cắt NGAY, không cần dựng DTID-List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Kết quả ĐỒNG NHẤT CORI (assert trùng khớp mọi ngưỡng) — chỉ giảm chi phí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Mushroom: né 96–98% phép hợp DTID → tăng tốc 4.2×–5.4×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0" y="6309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F9A4A"/>
                </a:solidFill>
                <a:latin typeface="Calibri"/>
                <a:ea typeface="Calibri"/>
                <a:cs typeface="Calibri"/>
                <a:sym typeface="Calibri"/>
              </a:rPr>
              <a:t>17/18</a:t>
            </a:r>
            <a:endParaRPr/>
          </a:p>
        </p:txBody>
      </p:sp>
      <p:sp>
        <p:nvSpPr>
          <p:cNvPr id="238" name="Google Shape;238;p28"/>
          <p:cNvSpPr txBox="1"/>
          <p:nvPr/>
        </p:nvSpPr>
        <p:spPr>
          <a:xfrm>
            <a:off x="777240" y="32004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91919"/>
                </a:solidFill>
                <a:latin typeface="Merriweather"/>
                <a:ea typeface="Merriweather"/>
                <a:cs typeface="Merriweather"/>
                <a:sym typeface="Merriweather"/>
              </a:rPr>
              <a:t>Kết luận: ba đánh đổi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822960" y="1078992"/>
            <a:ext cx="3840480" cy="4445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914400" y="1371600"/>
            <a:ext cx="106071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mRI gọn nhưng đắt — phải duyệt toàn vùng phổ biến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PRI rẻ nhưng hẹp — bỏ sót mẫu lai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b="1" i="0" lang="en-US" sz="3000" u="none" cap="none" strike="noStrike">
                <a:solidFill>
                  <a:srgbClr val="2C2C2C"/>
                </a:solidFill>
                <a:latin typeface="Merriweather"/>
                <a:ea typeface="Merriweather"/>
                <a:cs typeface="Merriweather"/>
                <a:sym typeface="Merriweather"/>
              </a:rPr>
              <a:t>CORI cân bằng — ràng buộc kép, kết quả nhỏ &amp; giàu ngữ nghĩa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Cải tiến CORI+: cận trên all-confidence — kết quả như cũ, nhanh 4.2×–5.4×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◆  </a:t>
            </a:r>
            <a:r>
              <a:rPr i="0" lang="en-US" sz="3000" u="none" cap="none" strike="noStrike">
                <a:solidFill>
                  <a:srgbClr val="997929"/>
                </a:solidFill>
                <a:latin typeface="Merriweather"/>
                <a:ea typeface="Merriweather"/>
                <a:cs typeface="Merriweather"/>
                <a:sym typeface="Merriweather"/>
              </a:rPr>
              <a:t>Hướng 2021–2026: metaheuristic (MRI-CE), fuzzy, utility, privacy</a:t>
            </a:r>
            <a:endParaRPr sz="30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/>
          <p:nvPr/>
        </p:nvSpPr>
        <p:spPr>
          <a:xfrm>
            <a:off x="2436876" y="1554480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914400" y="1920240"/>
            <a:ext cx="10360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Xin cảm ơn thầy/cô và các bạn!</a:t>
            </a:r>
            <a:endParaRPr sz="40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BF9A4A"/>
                </a:solidFill>
                <a:latin typeface="Merriweather"/>
                <a:ea typeface="Merriweather"/>
                <a:cs typeface="Merriweather"/>
                <a:sym typeface="Merriweather"/>
              </a:rPr>
              <a:t>Mời thầy/cô và các bạn đặt câu hỏi</a:t>
            </a:r>
            <a:endParaRPr sz="4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2436876" y="5303520"/>
            <a:ext cx="7315200" cy="3810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0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